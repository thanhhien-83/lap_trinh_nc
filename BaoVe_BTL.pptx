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0" y="731520"/>
            <a:ext cx="853409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7D2FE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BÁO CÁO BÀI TẬP LỚN</a:t>
            </a:r>
          </a:p>
          <a:p>
            <a:pPr algn="ctr">
              <a:defRPr sz="1400">
                <a:solidFill>
                  <a:srgbClr val="C7D2FE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Môn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LẬP TRÌNH NÂNG 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PHẦN MỀM QUẢN LÝ SINH VIÊN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 DỤNG CẤU TRÚC MẢNG ĐỘNG VÀ GIAO DIỆN ĐỒ HỌA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332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+mj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743200" y="4206240"/>
            <a:ext cx="1280160" cy="36576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 sz="1200">
                <a:latin typeface="+mj-lt"/>
              </a:rPr>
              <a:t>HTML5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4206240"/>
            <a:ext cx="1280160" cy="36576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 sz="1200">
                <a:latin typeface="+mj-lt"/>
              </a:rPr>
              <a:t>CSS3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4206240"/>
            <a:ext cx="1280160" cy="36576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 sz="1200">
                <a:latin typeface="+mj-lt"/>
              </a:rPr>
              <a:t>JavaScript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4206240"/>
            <a:ext cx="1280160" cy="36576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 sz="1200">
                <a:latin typeface="+mj-lt"/>
              </a:rPr>
              <a:t>Chart.js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4206240"/>
            <a:ext cx="1280160" cy="36576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 sz="1200">
                <a:latin typeface="+mj-lt"/>
              </a:rPr>
              <a:t>LocalStorage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103628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7D2FE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Sinh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sz="2000" dirty="0">
                <a:latin typeface="+mj-lt"/>
              </a:rPr>
              <a:t>: </a:t>
            </a:r>
            <a:r>
              <a:rPr lang="vi-VN" sz="2000" dirty="0">
                <a:latin typeface="+mj-lt"/>
              </a:rPr>
              <a:t>Hứa Thị Thanh Hiền</a:t>
            </a:r>
            <a:endParaRPr sz="2000" dirty="0">
              <a:latin typeface="+mj-lt"/>
            </a:endParaRPr>
          </a:p>
          <a:p>
            <a:pPr algn="ctr">
              <a:defRPr sz="1300">
                <a:solidFill>
                  <a:srgbClr val="A5B4FC"/>
                </a:solidFill>
              </a:defRPr>
            </a:pPr>
            <a:r>
              <a:rPr sz="2000" dirty="0">
                <a:latin typeface="+mj-lt"/>
              </a:rPr>
              <a:t>GVHD: </a:t>
            </a:r>
            <a:r>
              <a:rPr lang="vi-VN" sz="2000" dirty="0">
                <a:latin typeface="+mj-lt"/>
              </a:rPr>
              <a:t>Nghiêm Văn Tính </a:t>
            </a:r>
            <a:r>
              <a:rPr sz="2000" dirty="0">
                <a:latin typeface="+mj-lt"/>
              </a:rPr>
              <a:t>• 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2025-2026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6309360"/>
            <a:ext cx="8534095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NỘI DUNG TRÌNH BÀY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31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Tổng quan các phần trong bài bảo vệ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642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Bài tập lớn - Lập trình nâng 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2/14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3716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Đặt vấn đề &amp; Mục tiêu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Giới thiệu bài toán và mục tiêu đề tài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2148840"/>
            <a:ext cx="228600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297679" y="1371600"/>
            <a:ext cx="502920" cy="5029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13716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Cơ sở lý thuyết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Mảng động, QuickSort, Binary 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59" y="2148840"/>
            <a:ext cx="228600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046719" y="137160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799" y="13716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Phân tích &amp; Thiết kế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799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Mô hình dữ liệu, kiến trúc hệ thống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799" y="2148840"/>
            <a:ext cx="228600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48640" y="3749039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49039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Thuật toán &amp; Độ phức tạp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11479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Chi tiết cài đặt và phân tích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" y="4526279"/>
            <a:ext cx="228600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297679" y="3749039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59" y="3749039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Demo ứng dụng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59" y="411479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Giao diện và các chức năng chính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59" y="4526279"/>
            <a:ext cx="228600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046719" y="3749039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799" y="3749039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Kết luận &amp; Hướng phát triển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799" y="411479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Tổng kết và đề xuất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799" y="4526279"/>
            <a:ext cx="228600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ĐẶT VẤN ĐỀ &amp; MỤC TIÊU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31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Bối cảnh và mục tiêu của đề tài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642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Phần 1: Đặt vấn đề &amp; Mục tiêu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3/14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30352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⚡ Vấn đề thực tế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Quản lý thông tin sinh viên là nhu cầu thiết yếu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trong môi trường giáo dục hiện đại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Cần hệ thống CRUD nhanh chóng, hiệu quả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Cần chức năng tìm kiếm, sắp xếp linh hoạt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Thống kê kết quả học tập trực quan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Giao diện thân thiện, dễ sử dụng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530352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🎯 Mục tiêu đề tài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Xây dựng cấu trúc mảng động từ đầu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(không dùng thư viện có sẵn)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Cài đặt QuickSort - O(n log n)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Cài đặt Binary Search - O(log n)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Phát triển giao diện đồ họa hiện đại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Đảm bảo hiệu năng &amp; khả năng mở rộng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🛠 Công nghệ sử dụng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21031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5262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HTML5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Cấu trúc trang web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4389120"/>
            <a:ext cx="21031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17520" y="45262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CSS3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8463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Giao diện &amp; Animation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4389120"/>
            <a:ext cx="21031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0" y="45262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JavaScript ES6+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8463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Logic nghiệp vụ &amp; OOP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4389120"/>
            <a:ext cx="21031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0" y="45262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Chart.js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8463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Biểu đồ thống kê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4389120"/>
            <a:ext cx="21031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75520" y="45262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LocalStorage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48463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Lưu trữ dữ liệu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CẤU TRÚC MẢNG ĐỘNG (Dynamic Array)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31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Cơ sở lý thuyết - Cấu trúc dữ liệu chính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642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Phần 2: Cơ sở lý thuyết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4/14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548640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📦 Định nghĩa &amp; Đặc điểm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rPr dirty="0" err="1"/>
              <a:t>Mảng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phép</a:t>
            </a:r>
            <a:r>
              <a:rPr dirty="0"/>
              <a:t> </a:t>
            </a:r>
            <a:r>
              <a:rPr dirty="0" err="1"/>
              <a:t>lưu</a:t>
            </a:r>
            <a:r>
              <a:rPr dirty="0"/>
              <a:t> </a:t>
            </a:r>
            <a:r>
              <a:rPr dirty="0" err="1"/>
              <a:t>trữ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tử</a:t>
            </a:r>
            <a:r>
              <a:rPr dirty="0"/>
              <a:t> </a:t>
            </a:r>
            <a:r>
              <a:rPr dirty="0" err="1"/>
              <a:t>liên</a:t>
            </a:r>
            <a:r>
              <a:rPr dirty="0"/>
              <a:t> </a:t>
            </a:r>
            <a:r>
              <a:rPr dirty="0" err="1"/>
              <a:t>tiếp</a:t>
            </a:r>
            <a:endParaRPr dirty="0"/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khả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thay</a:t>
            </a:r>
            <a:r>
              <a:rPr dirty="0"/>
              <a:t> </a:t>
            </a:r>
            <a:r>
              <a:rPr dirty="0" err="1"/>
              <a:t>đổi</a:t>
            </a:r>
            <a:r>
              <a:rPr dirty="0"/>
              <a:t> </a:t>
            </a:r>
            <a:r>
              <a:rPr dirty="0" err="1"/>
              <a:t>kích</a:t>
            </a:r>
            <a:r>
              <a:rPr dirty="0"/>
              <a:t> </a:t>
            </a:r>
            <a:r>
              <a:rPr dirty="0" err="1"/>
              <a:t>thước</a:t>
            </a:r>
            <a:r>
              <a:rPr dirty="0"/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endParaRPr dirty="0"/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rPr dirty="0"/>
              <a:t>✓ </a:t>
            </a:r>
            <a:r>
              <a:rPr dirty="0" err="1"/>
              <a:t>Truy</a:t>
            </a:r>
            <a:r>
              <a:rPr dirty="0"/>
              <a:t>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ngẫu</a:t>
            </a:r>
            <a:r>
              <a:rPr dirty="0"/>
              <a:t> </a:t>
            </a:r>
            <a:r>
              <a:rPr dirty="0" err="1"/>
              <a:t>nhiên</a:t>
            </a:r>
            <a:r>
              <a:rPr dirty="0"/>
              <a:t> O(1)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rPr dirty="0"/>
              <a:t>✓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mở</a:t>
            </a:r>
            <a:r>
              <a:rPr dirty="0"/>
              <a:t> </a:t>
            </a:r>
            <a:r>
              <a:rPr dirty="0" err="1"/>
              <a:t>rộng</a:t>
            </a:r>
            <a:r>
              <a:rPr dirty="0"/>
              <a:t> (capacity × 2)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rPr dirty="0"/>
              <a:t>✓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nhớ</a:t>
            </a:r>
            <a:r>
              <a:rPr dirty="0"/>
              <a:t> </a:t>
            </a:r>
            <a:r>
              <a:rPr dirty="0" err="1"/>
              <a:t>liên</a:t>
            </a:r>
            <a:r>
              <a:rPr dirty="0"/>
              <a:t> </a:t>
            </a:r>
            <a:r>
              <a:rPr dirty="0" err="1"/>
              <a:t>tục</a:t>
            </a:r>
            <a:r>
              <a:rPr dirty="0"/>
              <a:t> → </a:t>
            </a: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cache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280160"/>
            <a:ext cx="52120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41732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🔄 Cơ chế Resize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7373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Khi length &gt;= capacity: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1. Tạo mảng mới: capacity × 2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2. Copy dữ liệu sang mảng mới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3. Giải phóng mảng cũ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→ Amortized O(1) cho mỗi push()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60"/>
            <a:ext cx="502920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📊 Amortized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Thêm n phần tử vào mảng động: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Số lần resize: log₂(n)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Tổng số copy:  1+2+4+...+n = 2n−1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Chi phí TB:    (2n−1+n)/n ≈ 3 = O(1)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→ Chi phí trung bình mỗi push() là O(1)!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5661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📋 Bảng độ phức tạp DynamicArray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943600" y="3977639"/>
          <a:ext cx="55778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Thao tác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Thời gian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Ghi chú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push()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O(1)*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Amortized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pop()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get() / set()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Random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insertAt()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Dịch phần tử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removeAt()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Dịch phần tử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find() / filter()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Linear search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sort()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QuickSort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binarySearch()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Đã sorted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THUẬT TOÁN QUICKSORT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31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Cơ sở lý thuyết - Thuật toán sắp xếp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642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Phần 2: Cơ sở lý thuyết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5/14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530352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💡 Ý tưởng: Chia để trị (Divide &amp; Conquer)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1. Chọn phần tử chốt (pivot)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2. Phân hoạch: chia mảng thành 2 phần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• Phần trái: các phần tử ≤ pivot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• Phần phải: các phần tử &gt; pivot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3. Đệ quy sắp xếp 2 phần con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30352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4173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📝 Pseudocode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QUICKSORT(arr, low, high):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if low &lt; high: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 pi = PARTITION(arr, low, high)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 QUICKSORT(arr, low, pi - 1)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 QUICKSORT(arr, pi + 1, high)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83280"/>
            <a:ext cx="530352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5204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📝 Hàm PARTITION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PARTITION(arr, low, high):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pivot = arr[high]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i = low - 1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for j = low to high - 1: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 if arr[j] &lt;= pivot: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   i = i + 1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   swap(arr[i], arr[j])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swap(arr[i+1], arr[high])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return i + 1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83280"/>
            <a:ext cx="530352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5204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⏱ Độ phức tạp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404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Trường hợp     | Thời gian    | Không gian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─────────────────────────────────────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Tốt nhất         | O(n log n)   | O(log n)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Trung bình     | O(n log n)   | O(log n)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Xấu nhất        | O(n²)           | O(n)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→ TB: O(n log n) - hiệu quả cho dữ liệu lớn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THUẬT TOÁN TÌM KIẾM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31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Cơ sở lý thuyết - Tìm kiếm tuyến tính &amp; nhị phân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642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Phần 2: Cơ sở lý thuyết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6/14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530352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🔍 Tìm kiếm tuyến tính (Linear Search)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Ý tưởng: Duyệt từng phần tử từ đầu → cuối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LINEAR_SEARCH(arr, target):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for i = 0 to length - 1: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 if arr[i] == target: return 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return -1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⏱ Độ phức tạp: O(n)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30352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4173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⚡ Tìm kiếm nhị phân (Binary Search)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Ý tưởng: Chia đôi mảng đã sắp xếp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BINARY_SEARCH(arr, target):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left=0, right=length-1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while left &lt;= right: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 mid = (left+right)/2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 if arr[mid] == target: return mid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 else if arr[mid] &lt; target: left=mid+1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  else: right=mid-1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1097280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9776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📊 So sánh hiệu quả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14400" y="4251960"/>
          <a:ext cx="102412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Tiêu chí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Linear Search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Binary Search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Độ phức tạp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Yêu cầu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Không cần sắp xếp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Mảng đã sắp xếp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100 phần tử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Tối đa 100 bước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Tối đa 7 bước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1000 phần tử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Tối đa 1000 bước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Tối đa 10 bước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Ứng dụng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Tìm theo nhiều tiêu chí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Tìm nhanh theo mã SV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PHÂN TÍCH BÀI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31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Yêu cầu chức năng và phi chức năng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642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Phần 3: Phân tích &amp; Thiết kế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7/14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📋 Yêu cầu chức năng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256032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CRUD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Thêm, Xem, Sửa, Xóa</a:t>
            </a:r>
            <a:br/>
            <a:r>
              <a:t>sinh viên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691640"/>
            <a:ext cx="256032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18288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Tìm kiếm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1488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Tìm theo mã SV,</a:t>
            </a:r>
            <a:br/>
            <a:r>
              <a:t>họ tên, lớp, xếp loại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91640"/>
            <a:ext cx="256032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Sắp xếp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Theo tên, mã SV,</a:t>
            </a:r>
            <a:br/>
            <a:r>
              <a:t>GPA, lớp (A-Z, Z-A)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691640"/>
            <a:ext cx="256032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8288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Thống kê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1488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Phân bố xếp loại,</a:t>
            </a:r>
            <a:br/>
            <a:r>
              <a:t>theo lớp, biểu đồ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⚙️ Yêu cầu phi chức năng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23360"/>
            <a:ext cx="25603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Hiệu năng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805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Các thao tác phải nhanh</a:t>
            </a:r>
            <a:br/>
            <a:r>
              <a:t>với &lt; 1000 sinh viên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023360"/>
            <a:ext cx="25603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66160" y="41605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Khả dụng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4805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Giao diện trực quan,</a:t>
            </a:r>
            <a:br/>
            <a:r>
              <a:t>dễ sử dụng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023360"/>
            <a:ext cx="25603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41605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Lưu trữ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4805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Dữ liệu lưu vào</a:t>
            </a:r>
            <a:br/>
            <a:r>
              <a:t>LocalStorage trình duyệt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0" y="4023360"/>
            <a:ext cx="25603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35440" y="41605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Tương thích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44805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Hoạt động trên các</a:t>
            </a:r>
            <a:br/>
            <a:r>
              <a:t>trình duyệt web hiện đại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532120"/>
            <a:ext cx="109728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566928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📊 Mô hình: Student { id, name, dob, gender, className, email, phone, address, scores(math, lit, eng), GPA = (Toán + Văn + Anh)/3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KIẾN TRÚC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31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Thiết kế 3 tầng và cấu trúc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642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Phần 3: Phân tích &amp; Thiết kế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8/14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280160"/>
            <a:ext cx="9418320" cy="10972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1325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PRESENTATION LAYER (Tầng giao diện)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737360"/>
            <a:ext cx="22860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4F46E5"/>
                </a:solidFill>
              </a:defRPr>
            </a:pPr>
            <a:r>
              <a:t>index.html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737360"/>
            <a:ext cx="22860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4F46E5"/>
                </a:solidFill>
              </a:defRPr>
            </a:pPr>
            <a:r>
              <a:t>styles.css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37360"/>
            <a:ext cx="22860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4F46E5"/>
                </a:solidFill>
              </a:defRPr>
            </a:pPr>
            <a:r>
              <a:t>Chart.js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852160" y="2423160"/>
            <a:ext cx="457200" cy="36576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371600" y="2834640"/>
            <a:ext cx="9418320" cy="155448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0" y="2880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BUSINESS LOGIC LAYER (Tầng xử lý nghiệp vụ)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32461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DieuKhienGiaoDien.js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UI Controller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32461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QuanLySinhVien.js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Student Manager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32461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ThuatToanSapXep.js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QuickSort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32461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ThuatToanTimKiem.js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Search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32461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ThuatToanThongKe.js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Statistics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852160" y="4434840"/>
            <a:ext cx="457200" cy="365760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371600" y="4846320"/>
            <a:ext cx="9418320" cy="118872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459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97316"/>
                </a:solidFill>
              </a:defRPr>
            </a:pPr>
            <a:r>
              <a:t>DATA LAYER (Tầng dữ liệu)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5257800"/>
            <a:ext cx="18288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97316"/>
                </a:solidFill>
              </a:defRPr>
            </a:pPr>
            <a:r>
              <a:t>MangDong.js (Dynamic Array)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5257800"/>
            <a:ext cx="18288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97316"/>
                </a:solidFill>
              </a:defRPr>
            </a:pPr>
            <a:r>
              <a:t>SinhVien.js (Student Model)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5257800"/>
            <a:ext cx="18288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97316"/>
                </a:solidFill>
              </a:defRPr>
            </a:pPr>
            <a:r>
              <a:t>CauTrucMangDong.js (Theory docs)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5257800"/>
            <a:ext cx="18288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F97316"/>
                </a:solidFill>
              </a:defRPr>
            </a:pPr>
            <a:r>
              <a:t>LocalStorage (Persistence)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THIẾT KẾ CÁC LỚP (OOP)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31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Class Diagram - Các lớp chính trong hệ thống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642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Phần 3: Phân tích &amp; Thiết kế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9/14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347472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📦 class DynamicArray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Thuộc tính: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data: Array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length: number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capacity: number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Phương thức: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push() / pop()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get() / set()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insertAt() / removeAt()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find() / findIndex() / filter()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sort() → QuickSort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binarySearch()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map() / forEach() / reduce()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clone() / toArray()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280160"/>
            <a:ext cx="356616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4173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👤 class Student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73736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Thuộc tính: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id, name, dob, gender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className, email, phone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address, scores{}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createdAt, updatedAt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Phương thức: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calculateGPA()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getRank()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getAge() / getFormattedDob()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validate()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update() / clone()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toJSON() / fromJSON()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80160"/>
            <a:ext cx="365760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4173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📊 class StudentManager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3736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Thuộc tính: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students: DynamicArray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storageKey: string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CRUD: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addStudent() / deleteStudent()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updateStudent()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getStudentById()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Tìm kiếm &amp; Sắp xếp: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searchStudents(criteria)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sortStudents(field, order)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endParaRPr/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Thống kê &amp; Lưu trữ: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getStatistics()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saveToStorage()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  • exportToJSON()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977639" y="347472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7772400" y="3474720"/>
            <a:ext cx="27432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BẢNG TỔNG HỢP ĐỘ PHỨC TẠP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31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Phân tích thuật toán trong hệ thống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642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Phần 4: Thuật toán &amp; Độ phức tạp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10/14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Thao tác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Thuật toán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Thời gian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Không gian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Ghi chú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push()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Amortized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O(1)*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Nhân đôi capacity khi đầy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pop() / get() / set()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Direct access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Truy cập ngẫu nhiên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insertAt() / removeAt()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Shift elements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Dịch chuyển phần tử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sort()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QuickSort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O(n log n)*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Divide &amp; Conquer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binarySearch()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Binary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Yêu cầu sorted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searchStudents()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Linear Search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O(k)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k = số kết quả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getStatistics()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Single-pass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O(c)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 = số lớp, 1 lần duyệt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addStudent()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Check + Push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Kiểm tra trùng mã SV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sortStudents()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Clone + QuickSort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O(n log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Clone mảng + sort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4572000"/>
            <a:ext cx="3566160" cy="1554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7091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⚡ QuickSort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O(n log n) trung bình — nhanh gấp nhiều lần BubbleSort O(n²)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572000"/>
            <a:ext cx="3566160" cy="1554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47091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⚡ Binary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O(log n) — tìm trong 1000 SV chỉ cần ~10 bước so với 1000 bước Linear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572000"/>
            <a:ext cx="3566160" cy="1554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47091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⚡ Single-pass Stats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O(n) — tính tất cả thống kê chỉ trong 1 lần duyệt mảng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GIAO DIỆN ỨNG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31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Thiết kế UI/UX hiện đại, thân thiện người dùng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642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Phần 5: Demo ứng dụng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11/14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548640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🎨 Thiết kế giao diện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Thiết kế giao diện sáng (Light Theme)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Phối màu Indigo (#4F46E5) chuyên nghiệp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Font Inter (Google Fonts) - dễ đọc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Font Awesome 6.4.0 cho icons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Responsive - tương thích mọi màn hình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Animation mượt mà, trực quan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280160"/>
            <a:ext cx="52120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1371600"/>
            <a:ext cx="50292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🎓 HỆ THỐNG QUẢN LÝ SINH VIÊN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783080"/>
            <a:ext cx="118872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>
                <a:solidFill>
                  <a:srgbClr val="4F46E5"/>
                </a:solidFill>
              </a:defRPr>
            </a:pPr>
            <a:r>
              <a:t>  Tổng quan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Thêm SV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Danh sách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Tìm kiếm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Thống kê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783080"/>
            <a:ext cx="3749039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     [Dashboard / Nội dung chính]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21031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069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📊 Tổng quan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Dashboard với thẻ thống kê</a:t>
            </a:r>
            <a:br/>
            <a:r>
              <a:t>và SV mới thêm gần đây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3931920"/>
            <a:ext cx="21031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17520" y="4069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➕ Thêm sinh viên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38912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Form nhập liệu với</a:t>
            </a:r>
            <a:br/>
            <a:r>
              <a:t>validation đầy đủ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3931920"/>
            <a:ext cx="21031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0" y="4069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📋 Danh sách 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38912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Bảng hiển thị phân trang</a:t>
            </a:r>
            <a:br/>
            <a:r>
              <a:t>Sắp xếp, Xem, Sửa, Xóa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3931920"/>
            <a:ext cx="21031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0" y="4069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🔍 Tìm kiếm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38912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Tìm theo từ khóa</a:t>
            </a:r>
            <a:br/>
            <a:r>
              <a:t>+ bộ lọc đa tiêu chí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3931920"/>
            <a:ext cx="21031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75520" y="406908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📈 Thống kê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438912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Biểu đồ tròn &amp; cột</a:t>
            </a:r>
            <a:br/>
            <a:r>
              <a:t>Chart.js trực quan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CHỨC NĂNG CHI TIẾT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31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Các chức năng chính của hệ thống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642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Phần 5: Demo ứng dụng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12/14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539496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📝 CRUD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✓ Thêm sinh viên (validation đầy đủ)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✓ Xem chi tiết qua modal popup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✓ Sửa thông tin inline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✓ Xóa với xác nhận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280160"/>
            <a:ext cx="539496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39" y="1417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🔍 Tìm kiếm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39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✓ Tìm theo mã SV, họ tên, lớp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✓ Lọc theo xếp loại học lực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✓ Lọc theo giới tính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✓ Kết hợp nhiều tiêu chí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79"/>
            <a:ext cx="539496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97763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📊 Sắp xếp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97679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✓ Theo mã SV (A-Z, Z-A)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✓ Theo họ tên (A-Z, Z-A)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✓ Theo GPA (cao→thấp, thấp→cao)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✓ Theo lớp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840479"/>
            <a:ext cx="539496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39" y="3977639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📈 Thống kê &amp; Biểu đồ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39" y="4297679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✓ Tổng số SV, điểm TB, cao/thấp nhất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✓ Biểu đồ tròn: phân bố xếp loại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✓ Biểu đồ cột: thống kê theo lớp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✓ Bảng chi tiết từng lớp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69280"/>
            <a:ext cx="210312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💾 Lưu trữ LocalStorage tự động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34640" y="5669280"/>
            <a:ext cx="210312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📤 Xuất dữ liệu JSON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5669280"/>
            <a:ext cx="210312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📥 Import dữ liệu từ JSON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5669280"/>
            <a:ext cx="210312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🎲 Dữ liệu mẫu 30 sinh viên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5669280"/>
            <a:ext cx="210312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E293B"/>
                </a:solidFill>
              </a:defRPr>
            </a:pPr>
            <a:r>
              <a:t>⏰ Đồng hồ realtime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KẾT QUẢ &amp; 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731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Tổng kết các kết quả đạt được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642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Phần 6: Kết luận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13/14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347472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✅ Mảng động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Xây dựng thành công cấu trúc</a:t>
            </a:r>
            <a:br/>
            <a:r>
              <a:t>Dynamic Array với đầy đủ</a:t>
            </a:r>
            <a:br/>
            <a:r>
              <a:t>20+ phương thức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325880"/>
            <a:ext cx="347472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59" y="146304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✅ QuickSort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1783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Cài đặt thuật toán QuickSort</a:t>
            </a:r>
            <a:br/>
            <a:r>
              <a:t>Độ phức tạp O(n log n)</a:t>
            </a:r>
            <a:br/>
            <a:r>
              <a:t>Sắp xếp đa tiêu chí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325880"/>
            <a:ext cx="347472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9" y="146304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✅ Tìm kiếm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1783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Linear Search + Binary Search</a:t>
            </a:r>
            <a:br/>
            <a:r>
              <a:t>Tìm kiếm đa tiêu chí</a:t>
            </a:r>
            <a:br/>
            <a:r>
              <a:t>Lọc dữ liệu linh hoạt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29000"/>
            <a:ext cx="347472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✅ Giao diện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862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UI hiện đại, responsive</a:t>
            </a:r>
            <a:br/>
            <a:r>
              <a:t>Chart.js biểu đồ</a:t>
            </a:r>
            <a:br/>
            <a:r>
              <a:t>5 màn hình chức năng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3429000"/>
            <a:ext cx="347472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59" y="35661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✅ 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8862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Code tổ chức theo OOP</a:t>
            </a:r>
            <a:br/>
            <a:r>
              <a:t>9 file JavaScript</a:t>
            </a:r>
            <a:br/>
            <a:r>
              <a:t>Cấu trúc rõ ràng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429000"/>
            <a:ext cx="347472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599" y="35661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✅ Lưu trữ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38862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LocalStorage persistence</a:t>
            </a:r>
            <a:br/>
            <a:r>
              <a:t>Export/Import JSON</a:t>
            </a:r>
            <a:br/>
            <a:r>
              <a:t>Dữ liệu mẫu 30 SV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46320"/>
            <a:ext cx="530352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9834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AB308"/>
                </a:solidFill>
              </a:defRPr>
            </a:pPr>
            <a:r>
              <a:t>⚠️ Hạn chế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035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lưu</a:t>
            </a:r>
            <a:r>
              <a:rPr dirty="0"/>
              <a:t> </a:t>
            </a:r>
            <a:r>
              <a:rPr dirty="0" err="1"/>
              <a:t>cục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(</a:t>
            </a:r>
            <a:r>
              <a:rPr dirty="0" err="1"/>
              <a:t>LocalStorage</a:t>
            </a:r>
            <a:r>
              <a:rPr dirty="0"/>
              <a:t> ~5MB)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Chưa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chức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nhập</a:t>
            </a:r>
            <a:r>
              <a:rPr dirty="0"/>
              <a:t>,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quyền</a:t>
            </a:r>
            <a:endParaRPr dirty="0"/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Chưa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database server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846320"/>
            <a:ext cx="530352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49834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🚀 Hướng phát triển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3035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Tích hợp backend (Node.js / Python)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Sử dụng database (MongoDB, MySQL)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t>• Thêm import/export Excel, phân quyền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CẢM ƠN THẦY/CÔ ĐÃ LẮNG NGHE!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926080"/>
            <a:ext cx="3047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7D2FE"/>
                </a:solidFill>
              </a:defRPr>
            </a:pPr>
            <a:r>
              <a:t>Đề tài: Xây dựng phần mềm Quản lý Sinh viên</a:t>
            </a:r>
          </a:p>
          <a:p>
            <a:pPr algn="ctr">
              <a:defRPr sz="1500">
                <a:solidFill>
                  <a:srgbClr val="A5B4FC"/>
                </a:solidFill>
              </a:defRPr>
            </a:pPr>
            <a:r>
              <a:t>Sử dụng cấu trúc Mảng Động &amp; Giao diện Đồ họa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❓ Sẵn sàng trả lời câu hỏi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5303520"/>
            <a:ext cx="4876495" cy="731520"/>
          </a:xfrm>
          <a:prstGeom prst="roundRect">
            <a:avLst/>
          </a:prstGeom>
          <a:solidFill>
            <a:srgbClr val="4338C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C7D2FE"/>
                </a:solidFill>
              </a:defRPr>
            </a:pPr>
            <a:r>
              <a:rPr dirty="0"/>
              <a:t>Sinh </a:t>
            </a:r>
            <a:r>
              <a:rPr dirty="0" err="1"/>
              <a:t>viên</a:t>
            </a:r>
            <a:r>
              <a:rPr dirty="0"/>
              <a:t>: [</a:t>
            </a:r>
            <a:r>
              <a:rPr dirty="0" err="1"/>
              <a:t>Điền</a:t>
            </a:r>
            <a:r>
              <a:rPr dirty="0"/>
              <a:t> </a:t>
            </a:r>
            <a:r>
              <a:rPr dirty="0" err="1"/>
              <a:t>tên</a:t>
            </a:r>
            <a:r>
              <a:rPr dirty="0"/>
              <a:t>]  •  GVHD: [</a:t>
            </a:r>
            <a:r>
              <a:rPr dirty="0" err="1"/>
              <a:t>Điền</a:t>
            </a:r>
            <a:r>
              <a:rPr dirty="0"/>
              <a:t> </a:t>
            </a:r>
            <a:r>
              <a:rPr dirty="0" err="1"/>
              <a:t>tên</a:t>
            </a:r>
            <a:r>
              <a:rPr dirty="0"/>
              <a:t>]</a:t>
            </a:r>
          </a:p>
          <a:p>
            <a:pPr algn="ctr">
              <a:defRPr sz="1100">
                <a:solidFill>
                  <a:srgbClr val="A5B4FC"/>
                </a:solidFill>
              </a:defRPr>
            </a:pPr>
            <a:r>
              <a:rPr dirty="0"/>
              <a:t>Môn: </a:t>
            </a:r>
            <a:r>
              <a:rPr dirty="0" err="1"/>
              <a:t>Lập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nâng</a:t>
            </a:r>
            <a:r>
              <a:rPr dirty="0"/>
              <a:t> </a:t>
            </a:r>
            <a:r>
              <a:rPr dirty="0" err="1"/>
              <a:t>cao</a:t>
            </a:r>
            <a:r>
              <a:rPr dirty="0"/>
              <a:t>  •  </a:t>
            </a:r>
            <a:r>
              <a:rPr dirty="0" err="1"/>
              <a:t>Năm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: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2554</Words>
  <Application>Microsoft Office PowerPoint</Application>
  <PresentationFormat>Widescreen</PresentationFormat>
  <Paragraphs>448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Administrator</cp:lastModifiedBy>
  <cp:revision>2</cp:revision>
  <dcterms:created xsi:type="dcterms:W3CDTF">2013-01-27T09:14:16Z</dcterms:created>
  <dcterms:modified xsi:type="dcterms:W3CDTF">2026-02-24T15:29:44Z</dcterms:modified>
  <cp:category/>
</cp:coreProperties>
</file>